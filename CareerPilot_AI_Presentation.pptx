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1F5F9"/>
                </a:solidFill>
                <a:latin typeface="Arial"/>
              </a:defRPr>
            </a:pPr>
            <a:r>
              <a:t>CareerPilot AI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  <a:latin typeface="Arial"/>
              </a:defRPr>
            </a:pPr>
            <a:r>
              <a:t>AI-Powered Career Intelligence &amp; Vector Search Recruitment Engine</a:t>
            </a:r>
            <a:br/>
            <a:r>
              <a:t>Presented by Team Placebo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Confidential • Project Presentation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  <a:latin typeface="Arial"/>
              </a:defRPr>
            </a:pPr>
            <a:r>
              <a:t>1. Problem Statement</a:t>
            </a:r>
          </a:p>
          <a:p>
            <a:pPr>
              <a:spcBef>
                <a:spcPts val="6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Challenges Job Seekers &amp; Hiring Teams Face 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971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Flawed Keyword Screening: Traditional ATS portals reject qualified talent simply because exact keyword strings are missing from their resumes.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Unverified Candidate Claims: Static PDF resumes fail to reflect actual coding ability, commit frequency, or real engineering impact.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Lack of Actionable Career Guidance: Rejected applicants receive zero feedback on missing skills or how to bridge gaps for target roles.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  <a:latin typeface="Arial"/>
              </a:defRPr>
            </a:pPr>
            <a:r>
              <a:t>2. The Solution: CareerPilot AI</a:t>
            </a:r>
          </a:p>
          <a:p>
            <a:pPr>
              <a:spcBef>
                <a:spcPts val="6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Empowering Job Seekers &amp; Recruiters with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971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Contextual Semantic Matching: Evaluates candidate experience based on conceptual skill meaning rather than primitive word matching.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Verified Code Quantification: Connects directly to GitHub to calculate objective developer performance scores from real code activity.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Personalized Growth Roadmaps: Automatically detects candidate skill gaps for any role and constructs step-by-step learning blueprints.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  <a:latin typeface="Arial"/>
              </a:defRPr>
            </a:pPr>
            <a:r>
              <a:t>3. System Architecture</a:t>
            </a:r>
          </a:p>
          <a:p>
            <a:pPr>
              <a:spcBef>
                <a:spcPts val="6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High-Level Data Flow &amp; Modular Platform 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971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Data Capture: Accepts PDF/Word resumes, GitHub profile links, and live web job postings.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AI Processing Layer: Normalizes skill terms, parses candidate content, and calculates ATS readability &amp; impact metrics.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Vector Search Core: Matches candidate vectors against industry job datasets using high-performance similarity search.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User Interface: Renders interactive dashboards, ATS score breakdowns, and milestone roadmaps.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rial"/>
              </a:defRPr>
            </a:pPr>
            <a:r>
              <a:t>4. Glassmorphic User Dashboard</a:t>
            </a:r>
          </a:p>
          <a:p>
            <a:pPr>
              <a:spcBef>
                <a:spcPts val="400"/>
              </a:spcBef>
              <a:defRPr sz="1500">
                <a:solidFill>
                  <a:srgbClr val="94A3B8"/>
                </a:solidFill>
                <a:latin typeface="Arial"/>
              </a:defRPr>
            </a:pPr>
            <a:r>
              <a:t>Feature Highlight 1: Unified Dark-Mode Command Center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Central Command Hub: Allows candidates to manage their profile, view target roles, track scores, and explore roadmaps in one place.</a:t>
            </a:r>
          </a:p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Real-Time Stats Display: Instantly highlights overall ATS compatibility, portfolio strength, and recommended next steps.</a:t>
            </a:r>
          </a:p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Fluid User Experience: Features modern glassmorphism visuals designed for effortless navigation and clarity.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4572000"/>
          </a:xfrm>
          <a:prstGeom prst="roundRect">
            <a:avLst/>
          </a:prstGeom>
          <a:solidFill>
            <a:srgbClr val="18202F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329184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855F7"/>
                </a:solidFill>
                <a:latin typeface="Arial"/>
              </a:defRPr>
            </a:pPr>
            <a:r>
              <a:t>[ 🖼️ INSERT SCREENSHOT HERE: Main Dashboard Homepage (http://localhost:5173/)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rial"/>
              </a:defRPr>
            </a:pPr>
            <a:r>
              <a:t>5. GitHub Portfolio Analyzer</a:t>
            </a:r>
          </a:p>
          <a:p>
            <a:pPr>
              <a:spcBef>
                <a:spcPts val="400"/>
              </a:spcBef>
              <a:defRPr sz="1500">
                <a:solidFill>
                  <a:srgbClr val="94A3B8"/>
                </a:solidFill>
                <a:latin typeface="Arial"/>
              </a:defRPr>
            </a:pPr>
            <a:r>
              <a:t>Feature Highlight 2: Code Verification &amp; Technical Scoring (3 Screenshot Slots)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Live Code Analysis: Analyzes public repositories, commit velocity, code syntax, and star counts directly from GitHub.</a:t>
            </a:r>
          </a:p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Objective Developer Score: Converts real activity into a verified Technical Portfolio Score (0-100%).</a:t>
            </a:r>
          </a:p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Stack Breakdown: Displays clear visual charts of language distribution (Frontend, Backend, AI, DevOps).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1371600"/>
          </a:xfrm>
          <a:prstGeom prst="roundRect">
            <a:avLst/>
          </a:prstGeom>
          <a:solidFill>
            <a:srgbClr val="18202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20116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B82F6"/>
                </a:solidFill>
                <a:latin typeface="Arial"/>
              </a:defRPr>
            </a:pPr>
            <a:r>
              <a:t>[ 🖼️ Image Slot 1: GitHub Profile Analysis &amp; Developer Score 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3246120"/>
            <a:ext cx="5669280" cy="1371600"/>
          </a:xfrm>
          <a:prstGeom prst="roundRect">
            <a:avLst/>
          </a:prstGeom>
          <a:solidFill>
            <a:srgbClr val="18202F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3611879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A855F7"/>
                </a:solidFill>
                <a:latin typeface="Arial"/>
              </a:defRPr>
            </a:pPr>
            <a:r>
              <a:t>[ 🖼️ Image Slot 2: Repository Metrics &amp; Commit Velocity Chart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4846320"/>
            <a:ext cx="5669280" cy="1371600"/>
          </a:xfrm>
          <a:prstGeom prst="roundRect">
            <a:avLst/>
          </a:prstGeom>
          <a:solidFill>
            <a:srgbClr val="18202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52120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  <a:latin typeface="Arial"/>
              </a:defRPr>
            </a:pPr>
            <a:r>
              <a:t>[ 🖼️ Image Slot 3: Tech Stack Breakdown &amp; Language Distribution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rial"/>
              </a:defRPr>
            </a:pPr>
            <a:r>
              <a:t>6. Resume Parsing &amp; ATS Diagnostic Suite</a:t>
            </a:r>
          </a:p>
          <a:p>
            <a:pPr>
              <a:spcBef>
                <a:spcPts val="400"/>
              </a:spcBef>
              <a:defRPr sz="1500">
                <a:solidFill>
                  <a:srgbClr val="94A3B8"/>
                </a:solidFill>
                <a:latin typeface="Arial"/>
              </a:defRPr>
            </a:pPr>
            <a:r>
              <a:t>Feature Highlight 3: Document Upload, Readability Check &amp; Compatibility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Seamless Upload &amp; Extraction: Accepts PDF, Word, or text CVs and extracts structured experience, skills, and contact details.</a:t>
            </a:r>
          </a:p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Formatting &amp; Readability Inspection: Verifies optimal word count (100-1000 words), bullet point density, and machine parseability.</a:t>
            </a:r>
          </a:p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Weighted ATS Compatibility Score: Computes an overall 0-100% score (45% Skills, 25% Impact, 25% Readability, 10% Structure) and provides a checkbox task list to fix issues.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4572000"/>
          </a:xfrm>
          <a:prstGeom prst="roundRect">
            <a:avLst/>
          </a:prstGeom>
          <a:solidFill>
            <a:srgbClr val="18202F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329184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855F7"/>
                </a:solidFill>
                <a:latin typeface="Arial"/>
              </a:defRPr>
            </a:pPr>
            <a:r>
              <a:t>[ 🖼️ INSERT SCREENSHOT HERE: Resume Upload, ATS Score Gauge &amp; Formatting Checklist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rial"/>
              </a:defRPr>
            </a:pPr>
            <a:r>
              <a:t>7. Intelligent Vector Search Job Matching</a:t>
            </a:r>
          </a:p>
          <a:p>
            <a:pPr>
              <a:spcBef>
                <a:spcPts val="400"/>
              </a:spcBef>
              <a:defRPr sz="1500">
                <a:solidFill>
                  <a:srgbClr val="94A3B8"/>
                </a:solidFill>
                <a:latin typeface="Arial"/>
              </a:defRPr>
            </a:pPr>
            <a:r>
              <a:t>Feature Highlight 4: Contextual Career Role Recommendations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Contextual Understanding: Evaluates candidates against job openings based on underlying meaning rather than strict word matches.</a:t>
            </a:r>
          </a:p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Sub-Millisecond Matches: Instantly computes similarity match percentages (e.g. 88% Match) across thousands of roles.</a:t>
            </a:r>
          </a:p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Interactive Job Explorer: Allows users to click on any job listing to view detailed requirements and instant skill gap comparisons.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4572000"/>
          </a:xfrm>
          <a:prstGeom prst="roundRect">
            <a:avLst/>
          </a:prstGeom>
          <a:solidFill>
            <a:srgbClr val="18202F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329184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855F7"/>
                </a:solidFill>
                <a:latin typeface="Arial"/>
              </a:defRPr>
            </a:pPr>
            <a:r>
              <a:t>[ 🖼️ INSERT SCREENSHOT HERE: Job Matching Cards &amp; Similarity Percentage Badges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rial"/>
              </a:defRPr>
            </a:pPr>
            <a:r>
              <a:t>8. Kaggle AI Job Dataset Ingestion</a:t>
            </a:r>
          </a:p>
          <a:p>
            <a:pPr>
              <a:spcBef>
                <a:spcPts val="400"/>
              </a:spcBef>
              <a:defRPr sz="1500">
                <a:solidFill>
                  <a:srgbClr val="94A3B8"/>
                </a:solidFill>
                <a:latin typeface="Arial"/>
              </a:defRPr>
            </a:pPr>
            <a:r>
              <a:t>Feature Highlight 5: Real-World Industry Benchmarks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Massive Data Catalog: Ingests thousands of active engineering job postings to provide real-world industry benchmarks.</a:t>
            </a:r>
          </a:p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Skill Demand Insights: Shows candidates what skills are currently trending and most requested in their field.</a:t>
            </a:r>
          </a:p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Market Salary Standards: Helps candidates align their career expectations with current industry standards.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4572000"/>
          </a:xfrm>
          <a:prstGeom prst="roundRect">
            <a:avLst/>
          </a:prstGeom>
          <a:solidFill>
            <a:srgbClr val="18202F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329184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855F7"/>
                </a:solidFill>
                <a:latin typeface="Arial"/>
              </a:defRPr>
            </a:pPr>
            <a:r>
              <a:t>[ 🖼️ INSERT SCREENSHOT HERE: Kaggle AI Dataset Search &amp; Industry Role Benchmarks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rial"/>
              </a:defRPr>
            </a:pPr>
            <a:r>
              <a:t>9. Dynamic AI Roadmap Generator</a:t>
            </a:r>
          </a:p>
          <a:p>
            <a:pPr>
              <a:spcBef>
                <a:spcPts val="400"/>
              </a:spcBef>
              <a:defRPr sz="1500">
                <a:solidFill>
                  <a:srgbClr val="94A3B8"/>
                </a:solidFill>
                <a:latin typeface="Arial"/>
              </a:defRPr>
            </a:pPr>
            <a:r>
              <a:t>Feature Highlight 6: Personalized Step-by-Step Learning Plans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Automated Skill Gap Detection: Compares current candidate capabilities against target job requirements to identify missing skills.</a:t>
            </a:r>
          </a:p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Structured Milestones: Builds a phased learning blueprint (Foundations, Advanced Tools, Hands-On Projects).</a:t>
            </a:r>
          </a:p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Actionable Guidance: Provides estimated completion timeframes and curated resources for every milestone.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4572000"/>
          </a:xfrm>
          <a:prstGeom prst="roundRect">
            <a:avLst/>
          </a:prstGeom>
          <a:solidFill>
            <a:srgbClr val="18202F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329184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855F7"/>
                </a:solidFill>
                <a:latin typeface="Arial"/>
              </a:defRPr>
            </a:pPr>
            <a:r>
              <a:t>[ 🖼️ INSERT SCREENSHOT HERE: AI Roadmap Modal &amp; Phased Milestone Progression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  <a:latin typeface="Arial"/>
              </a:defRPr>
            </a:pPr>
            <a:r>
              <a:t>10. Playwright Scraping Microservice</a:t>
            </a:r>
          </a:p>
          <a:p>
            <a:pPr>
              <a:spcBef>
                <a:spcPts val="6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Feature Highlight 7: Autonomous Web Data Extraction (No Image Slot)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971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Live Job Extraction: Automatically crawls job listings and career portals to pull full job descriptions and requirement details.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Dual Scraping Modes: Supports fast automated browser extraction as well as AI-assisted page parsing.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Multi-Format Data Export: Enables candidates and recruiters to download extracted job data in JSON, CSV, Text, Markdown, or Terraform format.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  <a:latin typeface="Arial"/>
              </a:defRPr>
            </a:pPr>
            <a:r>
              <a:t>11. IBM Bob Skill Normalization &amp; Verification</a:t>
            </a:r>
          </a:p>
          <a:p>
            <a:pPr>
              <a:spcBef>
                <a:spcPts val="6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Feature Highlight 8: Standardized Skill Taxonomy &amp; Anti-Inflation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971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Skill Standardization: Translates non-standard resume phrasing into unified skill terms for precise matching.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Candidate Claim Verification: Cross-checks resume experience bullets against actual GitHub repository commits to eliminate resume inflation.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Unbiased Career Guidance: Enforces fair evaluation standards across all candidate assessments and AI roadmaps.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  <a:latin typeface="Arial"/>
              </a:defRPr>
            </a:pPr>
            <a:r>
              <a:t>12. Robust Database &amp; Data Modeling</a:t>
            </a:r>
          </a:p>
          <a:p>
            <a:pPr>
              <a:spcBef>
                <a:spcPts val="6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Structured Organization for User Profiles &amp; Vector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971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User Profile Records: Securely stores profile info, skill inventories, and target career goals.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Resume &amp; Diagnostic Logs: Manages raw text, structured extraction JSON, formatting flags, and historical ATS scores.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Job &amp; Vector Storage: Indexes high-dimensional vector representations for instant role matching queries.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  <a:latin typeface="Arial"/>
              </a:defRPr>
            </a:pPr>
            <a:r>
              <a:t>13. Containerized Deployment &amp; Orchestration</a:t>
            </a:r>
          </a:p>
          <a:p>
            <a:pPr>
              <a:spcBef>
                <a:spcPts val="6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Reliable &amp; Scalable Production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971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One-Click Environment Setup: Orchestrates the database, backend services, and scraping engines via Docker Compose.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Isolated Service Operations: Ensures web scraping, API handling, and frontend rendering operate smoothly without bottlenecking.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Production-Ready Performance: Guarantees high availability and fast response times for concurrent users.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  <a:latin typeface="Arial"/>
              </a:defRPr>
            </a:pPr>
            <a:r>
              <a:t>14. Conclusion &amp; Future Roadmap</a:t>
            </a:r>
          </a:p>
          <a:p>
            <a:pPr>
              <a:spcBef>
                <a:spcPts val="6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Transforming Career Growth with AI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971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Empowering Job Seekers: Replaces guesswork with clear ATS feedback, verified portfolio scores, and actionable learning roadmaps.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Streamlining Recruitment: Helps hiring teams identify genuine engineering talent faster through verified code metrics.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• Upcoming Capabilities: Expanding into interactive AI mock interviews and automated resume customization per job posting.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